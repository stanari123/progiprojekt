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6"/>
  </p:notesMasterIdLst>
  <p:sldIdLst>
    <p:sldId id="268" r:id="rId3"/>
    <p:sldId id="259" r:id="rId4"/>
    <p:sldId id="269" r:id="rId5"/>
    <p:sldId id="281" r:id="rId6"/>
    <p:sldId id="282" r:id="rId7"/>
    <p:sldId id="261" r:id="rId8"/>
    <p:sldId id="284" r:id="rId9"/>
    <p:sldId id="275" r:id="rId10"/>
    <p:sldId id="260" r:id="rId11"/>
    <p:sldId id="274" r:id="rId12"/>
    <p:sldId id="285" r:id="rId13"/>
    <p:sldId id="286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5" autoAdjust="0"/>
    <p:restoredTop sz="96320" autoAdjust="0"/>
  </p:normalViewPr>
  <p:slideViewPr>
    <p:cSldViewPr snapToGrid="0">
      <p:cViewPr varScale="1">
        <p:scale>
          <a:sx n="215" d="100"/>
          <a:sy n="215" d="100"/>
        </p:scale>
        <p:origin x="1784" y="200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23.01.2026.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310" y="143738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 err="1"/>
              <a:t>Cilj</a:t>
            </a:r>
            <a:r>
              <a:rPr dirty="0"/>
              <a:t>: </a:t>
            </a:r>
            <a:r>
              <a:rPr lang="hr-HR" dirty="0"/>
              <a:t>D</a:t>
            </a:r>
            <a:r>
              <a:rPr dirty="0" err="1"/>
              <a:t>igitalna</a:t>
            </a:r>
            <a:r>
              <a:rPr dirty="0"/>
              <a:t> </a:t>
            </a:r>
            <a:r>
              <a:rPr dirty="0" err="1"/>
              <a:t>oglasna</a:t>
            </a:r>
            <a:r>
              <a:rPr dirty="0"/>
              <a:t> </a:t>
            </a:r>
            <a:r>
              <a:rPr dirty="0" err="1"/>
              <a:t>ploča</a:t>
            </a:r>
            <a:r>
              <a:rPr dirty="0"/>
              <a:t> </a:t>
            </a:r>
            <a:r>
              <a:rPr lang="hr-HR" dirty="0"/>
              <a:t>za komunikaciju među suvlasnicima stambenih zgrada, olakšati dogovaranje i ugovaranje sastanaka i rješavanje bitnih pitanja vezanih za zajednički stambeni prostor</a:t>
            </a:r>
            <a:endParaRPr dirty="0"/>
          </a:p>
          <a:p>
            <a:pPr>
              <a:defRPr sz="1800"/>
            </a:pPr>
            <a:r>
              <a:rPr dirty="0" err="1"/>
              <a:t>Integracije</a:t>
            </a:r>
            <a:r>
              <a:rPr dirty="0"/>
              <a:t>: OAuth 2.0 </a:t>
            </a:r>
            <a:r>
              <a:rPr dirty="0" err="1"/>
              <a:t>prijava</a:t>
            </a:r>
            <a:r>
              <a:rPr dirty="0"/>
              <a:t>, e-mail </a:t>
            </a:r>
            <a:r>
              <a:rPr dirty="0" err="1"/>
              <a:t>obavijesti</a:t>
            </a:r>
            <a:r>
              <a:rPr dirty="0"/>
              <a:t>, </a:t>
            </a:r>
            <a:r>
              <a:rPr dirty="0" err="1"/>
              <a:t>StanPlan</a:t>
            </a:r>
            <a:r>
              <a:rPr dirty="0"/>
              <a:t> za </a:t>
            </a:r>
            <a:r>
              <a:rPr dirty="0" err="1"/>
              <a:t>formalno</a:t>
            </a:r>
            <a:r>
              <a:rPr dirty="0"/>
              <a:t> </a:t>
            </a:r>
            <a:r>
              <a:rPr dirty="0" err="1"/>
              <a:t>vođenje</a:t>
            </a:r>
            <a:r>
              <a:rPr dirty="0"/>
              <a:t> </a:t>
            </a:r>
            <a:r>
              <a:rPr dirty="0" err="1"/>
              <a:t>sastanaka</a:t>
            </a:r>
            <a:r>
              <a:rPr dirty="0"/>
              <a:t>.</a:t>
            </a:r>
            <a:endParaRPr lang="hr-HR" dirty="0"/>
          </a:p>
          <a:p>
            <a:pPr>
              <a:defRPr sz="1800"/>
            </a:pPr>
            <a:r>
              <a:rPr lang="en-HR" dirty="0"/>
              <a:t>Članovi grupe:</a:t>
            </a:r>
          </a:p>
          <a:p>
            <a:pPr lvl="1">
              <a:defRPr sz="1800"/>
            </a:pPr>
            <a:r>
              <a:rPr lang="en-GB" sz="1400" dirty="0"/>
              <a:t>Marko </a:t>
            </a:r>
            <a:r>
              <a:rPr lang="en-GB" sz="1400" dirty="0" err="1"/>
              <a:t>Vrkić</a:t>
            </a:r>
            <a:endParaRPr lang="en-GB" sz="1400" dirty="0"/>
          </a:p>
          <a:p>
            <a:pPr lvl="1">
              <a:defRPr sz="1800"/>
            </a:pPr>
            <a:r>
              <a:rPr lang="en-GB" sz="1400" dirty="0"/>
              <a:t>Luka Zorić</a:t>
            </a:r>
          </a:p>
          <a:p>
            <a:pPr lvl="1">
              <a:defRPr sz="1800"/>
            </a:pPr>
            <a:r>
              <a:rPr lang="en-GB" sz="1400" dirty="0" err="1"/>
              <a:t>Jakov</a:t>
            </a:r>
            <a:r>
              <a:rPr lang="en-GB" sz="1400" dirty="0"/>
              <a:t> </a:t>
            </a:r>
            <a:r>
              <a:rPr lang="en-GB" sz="1400" dirty="0" err="1"/>
              <a:t>Svalina</a:t>
            </a:r>
            <a:endParaRPr lang="en-GB" sz="1400" dirty="0"/>
          </a:p>
          <a:p>
            <a:pPr lvl="1">
              <a:defRPr sz="1800"/>
            </a:pPr>
            <a:r>
              <a:rPr lang="en-GB" sz="1400" dirty="0"/>
              <a:t>Isa </a:t>
            </a:r>
            <a:r>
              <a:rPr lang="en-GB" sz="1400" dirty="0" err="1"/>
              <a:t>Trobradović</a:t>
            </a:r>
            <a:endParaRPr lang="en-GB" sz="1400" dirty="0"/>
          </a:p>
          <a:p>
            <a:pPr lvl="1">
              <a:defRPr sz="1800"/>
            </a:pPr>
            <a:r>
              <a:rPr lang="en-GB" sz="1400" dirty="0"/>
              <a:t>Vinko Šapina – </a:t>
            </a:r>
            <a:r>
              <a:rPr lang="en-GB" sz="1400" dirty="0" err="1"/>
              <a:t>voditelj</a:t>
            </a:r>
            <a:endParaRPr lang="en-GB" sz="1400" dirty="0"/>
          </a:p>
          <a:p>
            <a:pPr lvl="1">
              <a:defRPr sz="1800"/>
            </a:pPr>
            <a:r>
              <a:rPr lang="en-GB" sz="1400" dirty="0"/>
              <a:t>Oleksandr Malik</a:t>
            </a:r>
          </a:p>
          <a:p>
            <a:pPr lvl="1">
              <a:defRPr sz="1800"/>
            </a:pPr>
            <a:endParaRPr lang="en-HR" dirty="0"/>
          </a:p>
          <a:p>
            <a:pPr>
              <a:defRPr sz="1800"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1</a:t>
            </a:fld>
            <a:endParaRPr lang="hr-H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6FA96D-3DB3-60C8-1E2F-AE890C2034CB}"/>
              </a:ext>
            </a:extLst>
          </p:cNvPr>
          <p:cNvSpPr txBox="1">
            <a:spLocks/>
          </p:cNvSpPr>
          <p:nvPr/>
        </p:nvSpPr>
        <p:spPr>
          <a:xfrm>
            <a:off x="668735" y="3493915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266700" indent="-266700" algn="l" defTabSz="257175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2400" kern="120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6900" indent="-342900" algn="l" defTabSz="257175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6250" indent="-15187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986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125" indent="-131625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87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75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0625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75000" indent="-128588" algn="l" defTabSz="257175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67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19"/>
            <a:ext cx="8502732" cy="473825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Funkcionalni</a:t>
            </a:r>
            <a:r>
              <a:rPr dirty="0"/>
              <a:t>: </a:t>
            </a:r>
            <a:r>
              <a:rPr dirty="0" err="1"/>
              <a:t>kreiranje</a:t>
            </a:r>
            <a:r>
              <a:rPr dirty="0"/>
              <a:t> </a:t>
            </a:r>
            <a:r>
              <a:rPr dirty="0" err="1"/>
              <a:t>korisnika</a:t>
            </a:r>
            <a:r>
              <a:rPr dirty="0"/>
              <a:t> (admin), </a:t>
            </a:r>
            <a:r>
              <a:rPr dirty="0" err="1"/>
              <a:t>prijava</a:t>
            </a:r>
            <a:r>
              <a:rPr dirty="0"/>
              <a:t> (</a:t>
            </a:r>
            <a:r>
              <a:rPr dirty="0" err="1"/>
              <a:t>lokalno</a:t>
            </a:r>
            <a:r>
              <a:rPr dirty="0"/>
              <a:t> + OAuth 2.0), </a:t>
            </a:r>
            <a:r>
              <a:rPr dirty="0" err="1"/>
              <a:t>diskusije</a:t>
            </a:r>
            <a:r>
              <a:rPr dirty="0"/>
              <a:t> (</a:t>
            </a:r>
            <a:r>
              <a:rPr dirty="0" err="1"/>
              <a:t>javne</a:t>
            </a:r>
            <a:r>
              <a:rPr dirty="0"/>
              <a:t>/</a:t>
            </a:r>
            <a:r>
              <a:rPr dirty="0" err="1"/>
              <a:t>privatne</a:t>
            </a:r>
            <a:r>
              <a:rPr dirty="0"/>
              <a:t>), e-mail </a:t>
            </a:r>
            <a:r>
              <a:rPr dirty="0" err="1"/>
              <a:t>pozivnice</a:t>
            </a:r>
            <a:r>
              <a:rPr dirty="0"/>
              <a:t>, </a:t>
            </a:r>
            <a:r>
              <a:rPr dirty="0" err="1"/>
              <a:t>glasanje</a:t>
            </a:r>
            <a:r>
              <a:rPr dirty="0"/>
              <a:t> (DA/NE), </a:t>
            </a:r>
            <a:r>
              <a:rPr dirty="0" err="1"/>
              <a:t>sastanak</a:t>
            </a:r>
            <a:r>
              <a:rPr dirty="0"/>
              <a:t> </a:t>
            </a:r>
            <a:r>
              <a:rPr dirty="0" err="1"/>
              <a:t>preko</a:t>
            </a:r>
            <a:r>
              <a:rPr dirty="0"/>
              <a:t> </a:t>
            </a:r>
            <a:r>
              <a:rPr dirty="0" err="1"/>
              <a:t>StanPlan</a:t>
            </a:r>
            <a:r>
              <a:rPr dirty="0"/>
              <a:t>-a </a:t>
            </a:r>
            <a:r>
              <a:rPr dirty="0" err="1"/>
              <a:t>nakon</a:t>
            </a:r>
            <a:r>
              <a:rPr dirty="0"/>
              <a:t> </a:t>
            </a:r>
            <a:r>
              <a:rPr dirty="0" err="1"/>
              <a:t>praga</a:t>
            </a:r>
            <a:r>
              <a:rPr dirty="0"/>
              <a:t>, upload </a:t>
            </a:r>
            <a:r>
              <a:rPr dirty="0" err="1"/>
              <a:t>datoteka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Nefunkcionalni</a:t>
            </a:r>
            <a:r>
              <a:rPr dirty="0"/>
              <a:t>: </a:t>
            </a:r>
            <a:r>
              <a:rPr dirty="0" err="1"/>
              <a:t>dostupnost</a:t>
            </a:r>
            <a:r>
              <a:rPr dirty="0"/>
              <a:t> 24/7 (downtime &lt; 2h/</a:t>
            </a:r>
            <a:r>
              <a:rPr dirty="0" err="1"/>
              <a:t>mj</a:t>
            </a:r>
            <a:r>
              <a:rPr dirty="0"/>
              <a:t>.), </a:t>
            </a:r>
            <a:r>
              <a:rPr dirty="0" err="1"/>
              <a:t>responzivan</a:t>
            </a:r>
            <a:r>
              <a:rPr dirty="0"/>
              <a:t> UI, HTTPS + </a:t>
            </a:r>
            <a:r>
              <a:rPr dirty="0" err="1"/>
              <a:t>sigurna</a:t>
            </a:r>
            <a:r>
              <a:rPr dirty="0"/>
              <a:t> </a:t>
            </a:r>
            <a:r>
              <a:rPr dirty="0" err="1"/>
              <a:t>pohrana</a:t>
            </a:r>
            <a:r>
              <a:rPr dirty="0"/>
              <a:t> </a:t>
            </a:r>
            <a:r>
              <a:rPr dirty="0" err="1"/>
              <a:t>lozinki</a:t>
            </a:r>
            <a:r>
              <a:rPr dirty="0"/>
              <a:t>/</a:t>
            </a:r>
            <a:r>
              <a:rPr dirty="0" err="1"/>
              <a:t>tokena</a:t>
            </a:r>
            <a:r>
              <a:rPr dirty="0"/>
              <a:t>, </a:t>
            </a:r>
            <a:r>
              <a:rPr dirty="0" err="1"/>
              <a:t>vrijeme</a:t>
            </a:r>
            <a:r>
              <a:rPr dirty="0"/>
              <a:t> </a:t>
            </a:r>
            <a:r>
              <a:rPr dirty="0" err="1"/>
              <a:t>odziva</a:t>
            </a:r>
            <a:r>
              <a:rPr dirty="0"/>
              <a:t> do 2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320"/>
            <a:ext cx="8615548" cy="420386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Visokorazinski use case: ključne funkcionalnosti i vanjski servisi (StanPlan, e-mail, baza).</a:t>
            </a:r>
          </a:p>
          <a:p>
            <a:pPr>
              <a:defRPr sz="1800"/>
            </a:pPr>
            <a:r>
              <a:t>Napomena: detaljniji dijagrami (uloge i integracije) prikazani na sljedećim slajdovima.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  <p:pic>
        <p:nvPicPr>
          <p:cNvPr id="5" name="Picture 4" descr="uc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010" y="2138839"/>
            <a:ext cx="446519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0D5D0-F73D-24FC-BECC-19B6ABB5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2F19-E26B-AD68-6508-9A9CA2711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434901-3715-5057-3496-CBA9A968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87" y="68962"/>
            <a:ext cx="8360229" cy="830085"/>
          </a:xfrm>
        </p:spPr>
        <p:txBody>
          <a:bodyPr>
            <a:normAutofit/>
          </a:bodyPr>
          <a:lstStyle/>
          <a:p>
            <a:r>
              <a:rPr lang="en-GB" sz="2400" dirty="0"/>
              <a:t>UML DIJAGRAM OBRAZACA UPORABE (ULOGE)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4788417-7F01-18D1-3BB9-86EF27B7C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>
              <a:defRPr sz="1800"/>
            </a:pPr>
            <a:r>
              <a:rPr dirty="0" err="1"/>
              <a:t>Uloge</a:t>
            </a:r>
            <a:r>
              <a:rPr dirty="0"/>
              <a:t>: </a:t>
            </a:r>
            <a:r>
              <a:rPr dirty="0" err="1"/>
              <a:t>neregistrirani</a:t>
            </a:r>
            <a:r>
              <a:rPr dirty="0"/>
              <a:t> </a:t>
            </a:r>
            <a:r>
              <a:rPr dirty="0" err="1"/>
              <a:t>korisnik</a:t>
            </a:r>
            <a:r>
              <a:rPr dirty="0"/>
              <a:t>, </a:t>
            </a:r>
            <a:r>
              <a:rPr dirty="0" err="1"/>
              <a:t>suvlasnik</a:t>
            </a:r>
            <a:r>
              <a:rPr dirty="0"/>
              <a:t>, </a:t>
            </a:r>
            <a:r>
              <a:rPr dirty="0" err="1"/>
              <a:t>predstavnik</a:t>
            </a:r>
            <a:r>
              <a:rPr dirty="0"/>
              <a:t>, admin.</a:t>
            </a:r>
          </a:p>
          <a:p>
            <a:pPr>
              <a:defRPr sz="1800"/>
            </a:pPr>
            <a:r>
              <a:rPr dirty="0" err="1"/>
              <a:t>Suvlasnik</a:t>
            </a:r>
            <a:r>
              <a:rPr dirty="0"/>
              <a:t>: </a:t>
            </a:r>
            <a:r>
              <a:rPr dirty="0" err="1"/>
              <a:t>inicira</a:t>
            </a:r>
            <a:r>
              <a:rPr dirty="0"/>
              <a:t> </a:t>
            </a:r>
            <a:r>
              <a:rPr dirty="0" err="1"/>
              <a:t>diskusije</a:t>
            </a:r>
            <a:r>
              <a:rPr dirty="0"/>
              <a:t>, </a:t>
            </a:r>
            <a:r>
              <a:rPr dirty="0" err="1"/>
              <a:t>sudjeluje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glasa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Predstavnik</a:t>
            </a:r>
            <a:r>
              <a:rPr dirty="0"/>
              <a:t>: </a:t>
            </a:r>
            <a:r>
              <a:rPr dirty="0" err="1"/>
              <a:t>kreira</a:t>
            </a:r>
            <a:r>
              <a:rPr dirty="0"/>
              <a:t> </a:t>
            </a:r>
            <a:r>
              <a:rPr dirty="0" err="1"/>
              <a:t>sastanke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pregledava</a:t>
            </a:r>
            <a:r>
              <a:rPr dirty="0"/>
              <a:t> </a:t>
            </a:r>
            <a:r>
              <a:rPr dirty="0" err="1"/>
              <a:t>rezultate</a:t>
            </a:r>
            <a:r>
              <a:rPr dirty="0"/>
              <a:t> </a:t>
            </a:r>
            <a:r>
              <a:rPr dirty="0" err="1"/>
              <a:t>glasanja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Admin: </a:t>
            </a:r>
            <a:r>
              <a:rPr dirty="0" err="1"/>
              <a:t>upravlja</a:t>
            </a:r>
            <a:r>
              <a:rPr dirty="0"/>
              <a:t> </a:t>
            </a:r>
            <a:r>
              <a:rPr dirty="0" err="1"/>
              <a:t>korisnicima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konfiguracijom</a:t>
            </a:r>
            <a:r>
              <a:rPr dirty="0"/>
              <a:t> (</a:t>
            </a:r>
            <a:r>
              <a:rPr dirty="0" err="1"/>
              <a:t>StanPlan</a:t>
            </a:r>
            <a:r>
              <a:rPr dirty="0"/>
              <a:t> URL).</a:t>
            </a:r>
          </a:p>
        </p:txBody>
      </p:sp>
      <p:pic>
        <p:nvPicPr>
          <p:cNvPr id="12" name="Picture 11" descr="uc_roles.png">
            <a:extLst>
              <a:ext uri="{FF2B5EF4-FFF2-40B4-BE49-F238E27FC236}">
                <a16:creationId xmlns:a16="http://schemas.microsoft.com/office/drawing/2014/main" id="{E2A6FD99-9D6E-9E64-9CF5-14185217B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762" y="1209815"/>
            <a:ext cx="3493280" cy="523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06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72F3-FD42-526D-B296-8713EE6B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78512-7628-F914-CDCE-CBCE9055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7D8A89-AEC6-2BCB-E0F1-178FF59E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718" y="290945"/>
            <a:ext cx="7671460" cy="597315"/>
          </a:xfrm>
        </p:spPr>
        <p:txBody>
          <a:bodyPr>
            <a:noAutofit/>
          </a:bodyPr>
          <a:lstStyle/>
          <a:p>
            <a:r>
              <a:rPr lang="en-GB" sz="2400" dirty="0"/>
              <a:t>UML DIJAGRAM (KRITIČNE INTEGRACIJE)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49C8F27-995F-1E28-C20A-17D2139D5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452" y="1407226"/>
            <a:ext cx="3886200" cy="4763799"/>
          </a:xfrm>
        </p:spPr>
        <p:txBody>
          <a:bodyPr/>
          <a:lstStyle/>
          <a:p>
            <a:pPr>
              <a:defRPr sz="1800"/>
            </a:pPr>
            <a:r>
              <a:rPr dirty="0"/>
              <a:t>OAuth 2.0 </a:t>
            </a:r>
            <a:r>
              <a:rPr dirty="0" err="1"/>
              <a:t>prijava</a:t>
            </a:r>
            <a:r>
              <a:rPr dirty="0"/>
              <a:t> (Google) za </a:t>
            </a:r>
            <a:r>
              <a:rPr dirty="0" err="1"/>
              <a:t>autentifikaciju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E-mail </a:t>
            </a:r>
            <a:r>
              <a:rPr dirty="0" err="1"/>
              <a:t>obavijesti</a:t>
            </a:r>
            <a:r>
              <a:rPr dirty="0"/>
              <a:t> za </a:t>
            </a:r>
            <a:r>
              <a:rPr dirty="0" err="1"/>
              <a:t>privatne</a:t>
            </a:r>
            <a:r>
              <a:rPr dirty="0"/>
              <a:t> </a:t>
            </a:r>
            <a:r>
              <a:rPr dirty="0" err="1"/>
              <a:t>diskusije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StanPlan</a:t>
            </a:r>
            <a:r>
              <a:rPr dirty="0"/>
              <a:t> API za </a:t>
            </a:r>
            <a:r>
              <a:rPr dirty="0" err="1"/>
              <a:t>kreiranje</a:t>
            </a:r>
            <a:r>
              <a:rPr dirty="0"/>
              <a:t> </a:t>
            </a:r>
            <a:r>
              <a:rPr dirty="0" err="1"/>
              <a:t>sastanka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povrat</a:t>
            </a:r>
            <a:r>
              <a:rPr dirty="0"/>
              <a:t> </a:t>
            </a:r>
            <a:r>
              <a:rPr dirty="0" err="1"/>
              <a:t>poveznice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Integracije</a:t>
            </a:r>
            <a:r>
              <a:rPr dirty="0"/>
              <a:t> </a:t>
            </a:r>
            <a:r>
              <a:rPr dirty="0" err="1"/>
              <a:t>aktiviraju</a:t>
            </a:r>
            <a:r>
              <a:rPr dirty="0"/>
              <a:t> backend </a:t>
            </a:r>
            <a:r>
              <a:rPr dirty="0" err="1"/>
              <a:t>servisi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evidentiraju</a:t>
            </a:r>
            <a:r>
              <a:rPr dirty="0"/>
              <a:t> se u </a:t>
            </a:r>
            <a:r>
              <a:rPr dirty="0" err="1"/>
              <a:t>bazi</a:t>
            </a:r>
            <a:r>
              <a:rPr dirty="0"/>
              <a:t>.</a:t>
            </a:r>
          </a:p>
        </p:txBody>
      </p:sp>
      <p:pic>
        <p:nvPicPr>
          <p:cNvPr id="9" name="Picture 8" descr="uc_integrations.png">
            <a:extLst>
              <a:ext uri="{FF2B5EF4-FFF2-40B4-BE49-F238E27FC236}">
                <a16:creationId xmlns:a16="http://schemas.microsoft.com/office/drawing/2014/main" id="{8B0329FA-97CE-19BA-7420-4C153015F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306" y="2078182"/>
            <a:ext cx="4626182" cy="32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8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20"/>
            <a:ext cx="8443356" cy="491638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Frontend: React 18 + </a:t>
            </a:r>
            <a:r>
              <a:rPr dirty="0" err="1"/>
              <a:t>Vite</a:t>
            </a:r>
            <a:r>
              <a:rPr dirty="0"/>
              <a:t> – </a:t>
            </a:r>
            <a:r>
              <a:rPr dirty="0" err="1"/>
              <a:t>modularne</a:t>
            </a:r>
            <a:r>
              <a:rPr dirty="0"/>
              <a:t> </a:t>
            </a:r>
            <a:r>
              <a:rPr dirty="0" err="1"/>
              <a:t>komponente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upravljanje</a:t>
            </a:r>
            <a:r>
              <a:rPr dirty="0"/>
              <a:t> </a:t>
            </a:r>
            <a:r>
              <a:rPr dirty="0" err="1"/>
              <a:t>stanjem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Backend: Node.js + Express – REST API, Passport OAuth, JWT, </a:t>
            </a:r>
            <a:r>
              <a:rPr dirty="0" err="1"/>
              <a:t>AppError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Baza</a:t>
            </a:r>
            <a:r>
              <a:rPr dirty="0"/>
              <a:t>: PostgreSQL / </a:t>
            </a:r>
            <a:r>
              <a:rPr dirty="0" err="1"/>
              <a:t>Supabase</a:t>
            </a:r>
            <a:r>
              <a:rPr dirty="0"/>
              <a:t> – </a:t>
            </a:r>
            <a:r>
              <a:rPr dirty="0" err="1"/>
              <a:t>relacijski</a:t>
            </a:r>
            <a:r>
              <a:rPr dirty="0"/>
              <a:t> model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pohrana</a:t>
            </a:r>
            <a:r>
              <a:rPr dirty="0"/>
              <a:t> </a:t>
            </a:r>
            <a:r>
              <a:rPr dirty="0" err="1"/>
              <a:t>podataka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Vanjski</a:t>
            </a:r>
            <a:r>
              <a:rPr dirty="0"/>
              <a:t> </a:t>
            </a:r>
            <a:r>
              <a:rPr dirty="0" err="1"/>
              <a:t>servisi</a:t>
            </a:r>
            <a:r>
              <a:rPr dirty="0"/>
              <a:t>: Google OAuth 2.0, e-mail </a:t>
            </a:r>
            <a:r>
              <a:rPr dirty="0" err="1"/>
              <a:t>servis</a:t>
            </a:r>
            <a:r>
              <a:rPr dirty="0"/>
              <a:t>, </a:t>
            </a:r>
            <a:r>
              <a:rPr dirty="0" err="1"/>
              <a:t>StanPlan</a:t>
            </a:r>
            <a:r>
              <a:rPr dirty="0"/>
              <a:t> API, Google Maps (</a:t>
            </a:r>
            <a:r>
              <a:rPr dirty="0" err="1"/>
              <a:t>lokacije</a:t>
            </a:r>
            <a:r>
              <a:rPr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  <p:pic>
        <p:nvPicPr>
          <p:cNvPr id="5" name="Picture 4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71" y="3271745"/>
            <a:ext cx="7916789" cy="31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3FFF-D4B2-F726-20DD-2366E324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69376-1D3B-9367-F73D-85B1327FD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7881001-4307-923A-A164-DAC0089EB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080" y="68962"/>
            <a:ext cx="8266236" cy="885173"/>
          </a:xfrm>
        </p:spPr>
        <p:txBody>
          <a:bodyPr>
            <a:normAutofit/>
          </a:bodyPr>
          <a:lstStyle/>
          <a:p>
            <a:r>
              <a:rPr lang="en-GB" sz="2400" dirty="0"/>
              <a:t>ARHITEKTURA – MODEL BAZE PODATAKA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E018CA-FAFF-02AB-C7AE-2CA71A4E0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6141" y="1318162"/>
            <a:ext cx="3861707" cy="5153673"/>
          </a:xfrm>
        </p:spPr>
        <p:txBody>
          <a:bodyPr/>
          <a:lstStyle/>
          <a:p>
            <a:pPr>
              <a:defRPr sz="1800"/>
            </a:pPr>
            <a:r>
              <a:t>Relacijski model (PostgreSQL/Supabase).</a:t>
            </a:r>
          </a:p>
          <a:p>
            <a:pPr>
              <a:defRPr sz="1800"/>
            </a:pPr>
            <a:r>
              <a:t>Ključne cjeline: korisnici, članstva u zgradama, diskusije, poruke, ankete/glasovi, sastanci.</a:t>
            </a:r>
          </a:p>
          <a:p>
            <a:pPr>
              <a:defRPr sz="1800"/>
            </a:pPr>
            <a:r>
              <a:t>Osigurana veza diskusija ↔ glasanje ↔ sastanak (StanPlan).</a:t>
            </a:r>
          </a:p>
        </p:txBody>
      </p:sp>
      <p:pic>
        <p:nvPicPr>
          <p:cNvPr id="12" name="Picture 11" descr="db_diagram.png">
            <a:extLst>
              <a:ext uri="{FF2B5EF4-FFF2-40B4-BE49-F238E27FC236}">
                <a16:creationId xmlns:a16="http://schemas.microsoft.com/office/drawing/2014/main" id="{E989510C-536B-78DA-7C3F-F950F58EF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640" y="1318162"/>
            <a:ext cx="4532195" cy="410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44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74319"/>
            <a:ext cx="8496795" cy="485701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Unit testovi (Jest): authService (bcrypt, AppError), discussionsService (pristup privatnim diskusijama), polls/meetings logika.</a:t>
            </a:r>
          </a:p>
          <a:p>
            <a:pPr>
              <a:defRPr sz="1800"/>
            </a:pPr>
            <a:r>
              <a:t>Primjeri test slučajeva: AUTH-TC-001 (valjana prijava), AUTH-TC-002 (neispravna lozinka), DISC-TC-003 (vlasnik pristupa privatnoj diskusiji).</a:t>
            </a:r>
          </a:p>
          <a:p>
            <a:pPr>
              <a:defRPr sz="1800"/>
            </a:pPr>
            <a:r>
              <a:t>UI testiranje: Selenium 4 + pytest (HTML report, logovi, screenshotovi).</a:t>
            </a:r>
          </a:p>
          <a:p>
            <a:pPr>
              <a:defRPr sz="1800"/>
            </a:pPr>
            <a:r>
              <a:t>Cilj: pokriti regularne slučajeve, rubne uvjete i iznimke.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274320"/>
            <a:ext cx="8663049" cy="503514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React 18, Vite.</a:t>
            </a:r>
          </a:p>
          <a:p>
            <a:pPr>
              <a:defRPr sz="1800"/>
            </a:pPr>
            <a:r>
              <a:t>Backend: Node.js 25.1.0, Express 5.1.0, Passport + Google OAuth2, JWT, bcryptjs, dotenv, morgan, cors.</a:t>
            </a:r>
          </a:p>
          <a:p>
            <a:pPr>
              <a:defRPr sz="1800"/>
            </a:pPr>
            <a:r>
              <a:t>Baza: PostgreSQL, Supabase (@supabase/supabase-js), pg, postgres.</a:t>
            </a:r>
          </a:p>
          <a:p>
            <a:pPr>
              <a:defRPr sz="1800"/>
            </a:pPr>
            <a:r>
              <a:t>Testiranje: Jest 30.2, Selenium 4 + Python 3.12 + pytest.</a:t>
            </a:r>
          </a:p>
          <a:p>
            <a:pPr>
              <a:defRPr sz="1800"/>
            </a:pPr>
            <a:r>
              <a:t>Razmještaj: GitHub Actions + azure/webapps-deploy (CI/CD).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74320"/>
            <a:ext cx="8425543" cy="467888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Login: </a:t>
            </a:r>
            <a:r>
              <a:rPr dirty="0" err="1"/>
              <a:t>prijava</a:t>
            </a:r>
            <a:r>
              <a:rPr dirty="0"/>
              <a:t> e-</a:t>
            </a:r>
            <a:r>
              <a:rPr dirty="0" err="1"/>
              <a:t>mailom</a:t>
            </a:r>
            <a:r>
              <a:rPr dirty="0"/>
              <a:t>/</a:t>
            </a:r>
            <a:r>
              <a:rPr dirty="0" err="1"/>
              <a:t>lozinkom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Google OAuth.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15" y="1673156"/>
            <a:ext cx="6639494" cy="452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44C7-95CC-A8A3-95DD-3655DA932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41DB-4697-78B4-BA41-3909C8FD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74320"/>
            <a:ext cx="8425543" cy="467888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1E73-3A8F-FBD2-EC6E-FFF1CB67E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/>
              <a:t>Admin: </a:t>
            </a:r>
            <a:r>
              <a:rPr lang="en-GB" dirty="0" err="1"/>
              <a:t>upravljanje</a:t>
            </a:r>
            <a:r>
              <a:rPr lang="en-GB" dirty="0"/>
              <a:t> </a:t>
            </a:r>
            <a:r>
              <a:rPr lang="en-GB" dirty="0" err="1"/>
              <a:t>zgradama</a:t>
            </a:r>
            <a:r>
              <a:rPr lang="en-GB" dirty="0"/>
              <a:t>, </a:t>
            </a:r>
            <a:r>
              <a:rPr lang="en-GB" dirty="0" err="1"/>
              <a:t>korisnicima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StanPlan</a:t>
            </a:r>
            <a:r>
              <a:rPr lang="en-GB" dirty="0"/>
              <a:t> </a:t>
            </a:r>
            <a:r>
              <a:rPr lang="en-GB" dirty="0" err="1"/>
              <a:t>integracijom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88BC-EC12-8FAA-B98C-F1083999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  <p:pic>
        <p:nvPicPr>
          <p:cNvPr id="6" name="Picture 5" descr="admin.png">
            <a:extLst>
              <a:ext uri="{FF2B5EF4-FFF2-40B4-BE49-F238E27FC236}">
                <a16:creationId xmlns:a16="http://schemas.microsoft.com/office/drawing/2014/main" id="{375502DA-3476-71C7-F194-A480CDA07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80" y="1703302"/>
            <a:ext cx="6409114" cy="456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21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1A1B-C03C-5720-2B4B-56787569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8A67-2598-D8E9-3758-802015FF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74320"/>
            <a:ext cx="8425543" cy="467888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85D8-B08C-37B5-034F-F0227E336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 err="1"/>
              <a:t>Diskusija</a:t>
            </a:r>
            <a:r>
              <a:rPr lang="en-GB" dirty="0"/>
              <a:t>: </a:t>
            </a:r>
            <a:r>
              <a:rPr lang="en-GB" dirty="0" err="1"/>
              <a:t>poruke</a:t>
            </a:r>
            <a:r>
              <a:rPr lang="en-GB" dirty="0"/>
              <a:t>, </a:t>
            </a:r>
            <a:r>
              <a:rPr lang="en-GB" dirty="0" err="1"/>
              <a:t>privatnost</a:t>
            </a:r>
            <a:r>
              <a:rPr lang="en-GB" dirty="0"/>
              <a:t>, </a:t>
            </a:r>
            <a:r>
              <a:rPr lang="en-GB" dirty="0" err="1"/>
              <a:t>glasanje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prag</a:t>
            </a:r>
            <a:r>
              <a:rPr lang="en-GB" dirty="0"/>
              <a:t> za </a:t>
            </a:r>
            <a:r>
              <a:rPr lang="en-GB" dirty="0" err="1"/>
              <a:t>sastanak</a:t>
            </a:r>
            <a:r>
              <a:rPr lang="en-GB" dirty="0"/>
              <a:t> (&gt;25% 'Za').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F38CF-BF42-39B8-65B0-6413CB11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pic>
        <p:nvPicPr>
          <p:cNvPr id="7" name="Picture 6" descr="diskusija.png">
            <a:extLst>
              <a:ext uri="{FF2B5EF4-FFF2-40B4-BE49-F238E27FC236}">
                <a16:creationId xmlns:a16="http://schemas.microsoft.com/office/drawing/2014/main" id="{B76CA1C8-8C32-E5F1-ADB9-3025AD24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71" y="1787236"/>
            <a:ext cx="8856845" cy="448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54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274319"/>
            <a:ext cx="8360229" cy="509451"/>
          </a:xfrm>
        </p:spPr>
        <p:txBody>
          <a:bodyPr>
            <a:normAutofit fontScale="90000"/>
          </a:bodyPr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Postignuto</a:t>
            </a:r>
            <a:r>
              <a:rPr dirty="0"/>
              <a:t>: </a:t>
            </a:r>
            <a:r>
              <a:rPr dirty="0" err="1"/>
              <a:t>centralizirana</a:t>
            </a:r>
            <a:r>
              <a:rPr dirty="0"/>
              <a:t> </a:t>
            </a:r>
            <a:r>
              <a:rPr dirty="0" err="1"/>
              <a:t>komunikacija</a:t>
            </a:r>
            <a:r>
              <a:rPr dirty="0"/>
              <a:t> </a:t>
            </a:r>
            <a:r>
              <a:rPr dirty="0" err="1"/>
              <a:t>suvlasnika</a:t>
            </a:r>
            <a:r>
              <a:rPr dirty="0"/>
              <a:t> </a:t>
            </a:r>
            <a:r>
              <a:rPr dirty="0" err="1"/>
              <a:t>kroz</a:t>
            </a:r>
            <a:r>
              <a:rPr dirty="0"/>
              <a:t> </a:t>
            </a:r>
            <a:r>
              <a:rPr dirty="0" err="1"/>
              <a:t>diskusije</a:t>
            </a:r>
            <a:r>
              <a:rPr dirty="0"/>
              <a:t>, </a:t>
            </a:r>
            <a:r>
              <a:rPr dirty="0" err="1"/>
              <a:t>glasanje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e-mail </a:t>
            </a:r>
            <a:r>
              <a:rPr dirty="0" err="1"/>
              <a:t>obavijesti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Automatizacija</a:t>
            </a:r>
            <a:r>
              <a:rPr dirty="0"/>
              <a:t>: </a:t>
            </a:r>
            <a:r>
              <a:rPr dirty="0" err="1"/>
              <a:t>nakon</a:t>
            </a:r>
            <a:r>
              <a:rPr dirty="0"/>
              <a:t> </a:t>
            </a:r>
            <a:r>
              <a:rPr dirty="0" err="1"/>
              <a:t>praga</a:t>
            </a:r>
            <a:r>
              <a:rPr dirty="0"/>
              <a:t> </a:t>
            </a:r>
            <a:r>
              <a:rPr dirty="0" err="1"/>
              <a:t>glasova</a:t>
            </a:r>
            <a:r>
              <a:rPr dirty="0"/>
              <a:t> </a:t>
            </a:r>
            <a:r>
              <a:rPr dirty="0" err="1"/>
              <a:t>generira</a:t>
            </a:r>
            <a:r>
              <a:rPr dirty="0"/>
              <a:t> se </a:t>
            </a:r>
            <a:r>
              <a:rPr dirty="0" err="1"/>
              <a:t>prijedlog</a:t>
            </a:r>
            <a:r>
              <a:rPr dirty="0"/>
              <a:t>/</a:t>
            </a:r>
            <a:r>
              <a:rPr dirty="0" err="1"/>
              <a:t>sazivanje</a:t>
            </a:r>
            <a:r>
              <a:rPr dirty="0"/>
              <a:t> </a:t>
            </a:r>
            <a:r>
              <a:rPr dirty="0" err="1"/>
              <a:t>sastanka</a:t>
            </a:r>
            <a:r>
              <a:rPr dirty="0"/>
              <a:t> </a:t>
            </a:r>
            <a:r>
              <a:rPr dirty="0" err="1"/>
              <a:t>uz</a:t>
            </a:r>
            <a:r>
              <a:rPr dirty="0"/>
              <a:t> </a:t>
            </a:r>
            <a:r>
              <a:rPr dirty="0" err="1"/>
              <a:t>StanPlan</a:t>
            </a:r>
            <a:r>
              <a:rPr dirty="0"/>
              <a:t> </a:t>
            </a:r>
            <a:r>
              <a:rPr dirty="0" err="1"/>
              <a:t>integraciju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Stečena</a:t>
            </a:r>
            <a:r>
              <a:rPr dirty="0"/>
              <a:t> </a:t>
            </a:r>
            <a:r>
              <a:rPr dirty="0" err="1"/>
              <a:t>znanja</a:t>
            </a:r>
            <a:r>
              <a:rPr dirty="0"/>
              <a:t>: web </a:t>
            </a:r>
            <a:r>
              <a:rPr dirty="0" err="1"/>
              <a:t>tehnologije</a:t>
            </a:r>
            <a:r>
              <a:rPr dirty="0"/>
              <a:t>, </a:t>
            </a:r>
            <a:r>
              <a:rPr dirty="0" err="1"/>
              <a:t>integracije</a:t>
            </a:r>
            <a:r>
              <a:rPr dirty="0"/>
              <a:t> </a:t>
            </a:r>
            <a:r>
              <a:rPr dirty="0" err="1"/>
              <a:t>vanjskih</a:t>
            </a:r>
            <a:r>
              <a:rPr dirty="0"/>
              <a:t> </a:t>
            </a:r>
            <a:r>
              <a:rPr dirty="0" err="1"/>
              <a:t>servisa</a:t>
            </a:r>
            <a:r>
              <a:rPr dirty="0"/>
              <a:t>, </a:t>
            </a:r>
            <a:r>
              <a:rPr dirty="0" err="1"/>
              <a:t>autentifikacija</a:t>
            </a:r>
            <a:r>
              <a:rPr dirty="0"/>
              <a:t>, </a:t>
            </a:r>
            <a:r>
              <a:rPr dirty="0" err="1"/>
              <a:t>timska</a:t>
            </a:r>
            <a:r>
              <a:rPr dirty="0"/>
              <a:t> </a:t>
            </a:r>
            <a:r>
              <a:rPr dirty="0" err="1"/>
              <a:t>organizacija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dokumentacija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Neimplementirano</a:t>
            </a:r>
            <a:r>
              <a:rPr dirty="0"/>
              <a:t> / za </a:t>
            </a:r>
            <a:r>
              <a:rPr dirty="0" err="1"/>
              <a:t>nadogradnju</a:t>
            </a:r>
            <a:r>
              <a:rPr dirty="0"/>
              <a:t>: </a:t>
            </a:r>
            <a:r>
              <a:rPr dirty="0" err="1"/>
              <a:t>npr</a:t>
            </a:r>
            <a:r>
              <a:rPr dirty="0"/>
              <a:t>. </a:t>
            </a:r>
            <a:r>
              <a:rPr dirty="0" err="1"/>
              <a:t>inicijatorovo</a:t>
            </a:r>
            <a:r>
              <a:rPr dirty="0"/>
              <a:t> </a:t>
            </a:r>
            <a:r>
              <a:rPr dirty="0" err="1"/>
              <a:t>ograničenje</a:t>
            </a:r>
            <a:r>
              <a:rPr dirty="0"/>
              <a:t> </a:t>
            </a:r>
            <a:r>
              <a:rPr dirty="0" err="1"/>
              <a:t>maksimalnog</a:t>
            </a:r>
            <a:r>
              <a:rPr dirty="0"/>
              <a:t> </a:t>
            </a:r>
            <a:r>
              <a:rPr dirty="0" err="1"/>
              <a:t>broja</a:t>
            </a:r>
            <a:r>
              <a:rPr dirty="0"/>
              <a:t> </a:t>
            </a:r>
            <a:r>
              <a:rPr dirty="0" err="1"/>
              <a:t>poruka</a:t>
            </a:r>
            <a:r>
              <a:rPr dirty="0"/>
              <a:t> po </a:t>
            </a:r>
            <a:r>
              <a:rPr dirty="0" err="1"/>
              <a:t>suvlasniku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Budući</a:t>
            </a:r>
            <a:r>
              <a:rPr dirty="0"/>
              <a:t> rad: </a:t>
            </a:r>
            <a:r>
              <a:rPr dirty="0" err="1"/>
              <a:t>naprednije</a:t>
            </a:r>
            <a:r>
              <a:rPr dirty="0"/>
              <a:t> </a:t>
            </a:r>
            <a:r>
              <a:rPr dirty="0" err="1"/>
              <a:t>opcije</a:t>
            </a:r>
            <a:r>
              <a:rPr dirty="0"/>
              <a:t> </a:t>
            </a:r>
            <a:r>
              <a:rPr dirty="0" err="1"/>
              <a:t>glasanja</a:t>
            </a:r>
            <a:r>
              <a:rPr dirty="0"/>
              <a:t>, </a:t>
            </a:r>
            <a:r>
              <a:rPr dirty="0" err="1"/>
              <a:t>sustav</a:t>
            </a:r>
            <a:r>
              <a:rPr dirty="0"/>
              <a:t> </a:t>
            </a:r>
            <a:r>
              <a:rPr dirty="0" err="1"/>
              <a:t>obavijesti</a:t>
            </a:r>
            <a:r>
              <a:rPr dirty="0"/>
              <a:t>, </a:t>
            </a:r>
            <a:r>
              <a:rPr dirty="0" err="1"/>
              <a:t>dodatne</a:t>
            </a:r>
            <a:r>
              <a:rPr dirty="0"/>
              <a:t> </a:t>
            </a:r>
            <a:r>
              <a:rPr dirty="0" err="1"/>
              <a:t>administracijske</a:t>
            </a:r>
            <a:r>
              <a:rPr dirty="0"/>
              <a:t> </a:t>
            </a:r>
            <a:r>
              <a:rPr dirty="0" err="1"/>
              <a:t>mogućnosti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UX </a:t>
            </a:r>
            <a:r>
              <a:rPr dirty="0" err="1"/>
              <a:t>poboljšanja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1227</TotalTime>
  <Words>640</Words>
  <Application>Microsoft Macintosh PowerPoint</Application>
  <PresentationFormat>On-screen Show (4:3)</PresentationFormat>
  <Paragraphs>73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O projektu</vt:lpstr>
      <vt:lpstr>Pregled zahtjeva</vt:lpstr>
      <vt:lpstr>UML dijagram obrazaca uporabe</vt:lpstr>
      <vt:lpstr>UML DIJAGRAM OBRAZACA UPORABE (ULOGE)</vt:lpstr>
      <vt:lpstr>UML DIJAGRAM (KRITIČNE INTEGRACIJE)</vt:lpstr>
      <vt:lpstr>Arhitektura sustava</vt:lpstr>
      <vt:lpstr>ARHITEKTURA – MODEL BAZE PODATAKA</vt:lpstr>
      <vt:lpstr>Ispitivanje</vt:lpstr>
      <vt:lpstr>Korišteni alati i tehnologije</vt:lpstr>
      <vt:lpstr>Demonstracija aplikacije</vt:lpstr>
      <vt:lpstr>Demonstracija aplikacije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Vinko Šapina</cp:lastModifiedBy>
  <cp:revision>22</cp:revision>
  <dcterms:created xsi:type="dcterms:W3CDTF">2016-01-18T13:10:52Z</dcterms:created>
  <dcterms:modified xsi:type="dcterms:W3CDTF">2026-01-23T22:12:16Z</dcterms:modified>
</cp:coreProperties>
</file>